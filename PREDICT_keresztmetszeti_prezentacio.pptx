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Kitöltött esetek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Modellanalízis (mm-adat)</c:v>
                  </c:pt>
                  <c:pt idx="1">
                    <c:v>Final MAI (fogsorral)</c:v>
                  </c:pt>
                  <c:pt idx="2">
                    <c:v>Recall-kérdőív</c:v>
                  </c:pt>
                  <c:pt idx="3">
                    <c:v>MAT — init MAI</c:v>
                  </c:pt>
                  <c:pt idx="4">
                    <c:v>Klinikai F/A felmérőlap</c:v>
                  </c:pt>
                  <c:pt idx="5">
                    <c:v>Kérdőívek + horgonyok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9</c:v>
                </c:pt>
                <c:pt idx="3">
                  <c:v>41</c:v>
                </c:pt>
                <c:pt idx="4">
                  <c:v>44</c:v>
                </c:pt>
                <c:pt idx="5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E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b"/>
        <c:majorGridlines>
          <c:spPr>
            <a:ln w="6350" cap="flat">
              <a:solidFill>
                <a:srgbClr val="D8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321040" y="1234440"/>
            <a:ext cx="329184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85800"/>
            <a:ext cx="960120" cy="9601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2" y="945032"/>
            <a:ext cx="441655" cy="4416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96596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640080" y="31546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Keresztmetszeti vizsgálat — anatómiai variációk, rágóképesség és szájüregi életminőség teljes fogpótlás előtt álló betegeknél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640080" y="502920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1B577A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502920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 kérdőívek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871216" y="502920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1B577A"/>
          </a:solidFill>
          <a:ln/>
        </p:spPr>
      </p:sp>
      <p:sp>
        <p:nvSpPr>
          <p:cNvPr id="10" name="Text 6"/>
          <p:cNvSpPr/>
          <p:nvPr/>
        </p:nvSpPr>
        <p:spPr>
          <a:xfrm>
            <a:off x="2871216" y="502920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Horgonykérdések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102352" y="502920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1B577A"/>
          </a:solidFill>
          <a:ln/>
        </p:spPr>
      </p:sp>
      <p:sp>
        <p:nvSpPr>
          <p:cNvPr id="12" name="Text 8"/>
          <p:cNvSpPr/>
          <p:nvPr/>
        </p:nvSpPr>
        <p:spPr>
          <a:xfrm>
            <a:off x="5102352" y="502920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33488" y="502920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1B577A"/>
          </a:solidFill>
          <a:ln/>
        </p:spPr>
      </p:sp>
      <p:sp>
        <p:nvSpPr>
          <p:cNvPr id="14" name="Text 10"/>
          <p:cNvSpPr/>
          <p:nvPr/>
        </p:nvSpPr>
        <p:spPr>
          <a:xfrm>
            <a:off x="7333488" y="502920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Modellanalízis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564624" y="502920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1B577A"/>
          </a:solidFill>
          <a:ln/>
        </p:spPr>
      </p:sp>
      <p:sp>
        <p:nvSpPr>
          <p:cNvPr id="16" name="Text 12"/>
          <p:cNvSpPr/>
          <p:nvPr/>
        </p:nvSpPr>
        <p:spPr>
          <a:xfrm>
            <a:off x="9564624" y="502920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 vizsgálat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Kutatási terv — munkaanyag  •  2026. augusztus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Miért keresztmetszeti?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Eredeti terv: longitudinális — recall mérések a fogsorátadás után, változás-küszöb (MCID) horgonykérdéssel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Realitás: a kohorsz lezárult — új beteg nem vonható be, és a betegeken további mérés nem végezhető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recall-lefedettség a longitudinális elemzéshez nem elegendő, a meglévő recall-alcsoport ráadásul szelektált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még bővíthető adatforrás: a gipszminták modellanalízise — beteg nélkül végezhető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223760" y="1371600"/>
            <a:ext cx="4389120" cy="1261872"/>
          </a:xfrm>
          <a:prstGeom prst="roundRect">
            <a:avLst>
              <a:gd name="adj" fmla="val 6522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0" y="14996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89720" y="1499616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beteg — a kohorsz végleges mérete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2798064"/>
            <a:ext cx="4389120" cy="1261872"/>
          </a:xfrm>
          <a:prstGeom prst="roundRect">
            <a:avLst>
              <a:gd name="adj" fmla="val 6522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48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89720" y="2926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recall-kérdőív készült 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4224528"/>
            <a:ext cx="4389120" cy="1261872"/>
          </a:xfrm>
          <a:prstGeom prst="roundRect">
            <a:avLst>
              <a:gd name="adj" fmla="val 6522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4352544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89720" y="435254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fogsorral mért MAI (final)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71500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Ezért: keresztmetszeti vizsgálat — a fogpótlás előtti állapot térképe: anatómia, funkció, életminőség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Kutatási kérdések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4592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645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Anatómia ↔ objektív rágóképesség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86000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fogatlan gerinc anatómiai jellemzői — folytonos, mm-alapú mérőszámokkal — összefüggenek-e a MAI keverési teljesítménnyel?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01384" y="164592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501384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05472" y="1645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Rágóképesség ↔ életminőség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5472" y="2286000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rosszabb keverési teljesítmény rosszabb OHIP-5 / GOHAI értékkel jár-e együtt? (mediációs útvonal)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151376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51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1513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Elfogadhatósági küszöb (PASS)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791456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Milyen MAI-érték felett mondja a beteg elfogadhatónak a saját rágóképességét? (horgony-alapú ROC)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45352" y="3877056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01384" y="4151376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4151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05472" y="41513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 szem vs. modellanalízis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05472" y="4791456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Mennyire egyezik a kategóriás klinikai besorolás az objektív modellanalízissel? (egyezés és megbízhatóság)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Öt mérési komponens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56716" y="17830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260" y="201762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 kérdőívek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3611880"/>
            <a:ext cx="1773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OHIP-5 (0–20): magasabb = rosszabb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GOHAI (12–60): magasabb = jobb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Önkitöltős, minden betegnél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98064" y="146304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06140" y="17830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84" y="2017624"/>
            <a:ext cx="399593" cy="399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9504" y="2788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Horgonykérdések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962656" y="3611880"/>
            <a:ext cx="1773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Jelen állapot: rágás és életminőség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fokú skála (Kiváló … Nagyon rossz)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PASS-küszöb horgonya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47488" y="146304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55564" y="17830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108" y="2017624"/>
            <a:ext cx="399593" cy="3995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38928" y="2788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— rágóképesség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12080" y="3611880"/>
            <a:ext cx="1773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Kétszínű viasz keverési teszt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MAI: színkeveredési index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Magasabb érték = rosszabb keverés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296912" y="146304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04988" y="17830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532" y="2017624"/>
            <a:ext cx="399593" cy="3995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88352" y="2788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Modellanalízis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461504" y="3611880"/>
            <a:ext cx="1773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Gerincmagasság (mm), ívhossz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Digitális profilpontok; A/B/C módszer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Gipszmintán, beteg nélkül bővíthető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46336" y="1463040"/>
            <a:ext cx="2084832" cy="4480560"/>
          </a:xfrm>
          <a:prstGeom prst="roundRect">
            <a:avLst>
              <a:gd name="adj" fmla="val 394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154412" y="178308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8956" y="2017624"/>
            <a:ext cx="399593" cy="3995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37776" y="278892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 vizsgálat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710928" y="3611880"/>
            <a:ext cx="17739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F/A felmérőlap, 13+ tétel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Kategóriás besorolás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felső, A: alsó fogatlan állcsont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MAT: Mixing Ability Test  •  MAI: Mixing Ability Index (hue-alapú)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Adatállapot — mi van meg, mi bővíthető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43800" y="1600200"/>
            <a:ext cx="4114800" cy="1298448"/>
          </a:xfrm>
          <a:prstGeom prst="roundRect">
            <a:avLst>
              <a:gd name="adj" fmla="val 633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0" y="170992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Bővíthető:</a:t>
            </a:r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~40 beteg modellanalízise pótolható — beteg nélkül, az appban elvégezhető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543800" y="3063240"/>
            <a:ext cx="4114800" cy="1298448"/>
          </a:xfrm>
          <a:prstGeom prst="roundRect">
            <a:avLst>
              <a:gd name="adj" fmla="val 633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317296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Recall-alcsoport (9 fő):</a:t>
            </a:r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panaszos betegek felé szelektált — csak leíró „bónuszként” használható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43800" y="4526280"/>
            <a:ext cx="4114800" cy="1298448"/>
          </a:xfrm>
          <a:prstGeom prst="roundRect">
            <a:avLst>
              <a:gd name="adj" fmla="val 633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0" y="4636008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Fogsortípus:</a:t>
            </a:r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 felső + alsó, 9 csak alsó, 7 csak felső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48 beteg (a kohorsz lezárva); az F-tételek a felső, az A-tételek az alsó fogatlan állcsonton értelmezettek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Elemzési terv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481328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9222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989734"/>
            <a:ext cx="336499" cy="336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56362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 modellek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874520" y="198424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PRIMER: init MAI ~ A2 gerincmagasság (mm) — egyszerű lineáris modell  •  kor-korrekció: szenzitivitási elemzés (change-in-estimate)  •  MAI → QoL: feltáró indirekt asszociáció  •  tételenkénti elemzés feltáró, Holm-korrekcióval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99816"/>
            <a:ext cx="11091672" cy="1481328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474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367223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32461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PASS-ROC küszöbkeresés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874520" y="3666744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Horgony: „elfogadható-e a rágás ma?” (dichotomizált jelen-állapot kérdés)  •  ROC az init MAI-ra, vágópont Youden-indexszel  •  bootstrap CI + optimizmus-korrigált belső validáció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782312"/>
            <a:ext cx="11091672" cy="1481328"/>
          </a:xfrm>
          <a:prstGeom prst="roundRect">
            <a:avLst>
              <a:gd name="adj" fmla="val 5556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5157216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5354726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928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 minta — nagy fegyelem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874520" y="5349240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Modellenként 1–2 előre rögzített prediktor  •  exakt / permutációs próbák, Firth-korrekció  •  becslés-fókuszú riport: hatásméretek 95% CI-vel, nem p-érték-hajsza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Tervezett közlemények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75304" cy="4297680"/>
          </a:xfrm>
          <a:prstGeom prst="roundRect">
            <a:avLst>
              <a:gd name="adj" fmla="val 2302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556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 keresztmetszeti közlemény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0266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Anatómia – rágóképesség – életminőség kapcsolatrendszere fogpótlás előtt. A klinikai kategóriákkal látott paradox irány tesztje objektív, mm-alapú méréssel.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6824" y="1463040"/>
            <a:ext cx="3575304" cy="4297680"/>
          </a:xfrm>
          <a:prstGeom prst="roundRect">
            <a:avLst>
              <a:gd name="adj" fmla="val 2302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17556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81144" y="25146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Mérésmódszertani közlemény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81144" y="3337560"/>
            <a:ext cx="30266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Klinikai besorolás vs. digitális modellanalízis egyezése; A/B/C mérési módszerek összevetése; ICC, SEM, SDC ismételt mérésekből. A legbiztosabban publikálható elem.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5008" y="1463040"/>
            <a:ext cx="3575304" cy="4297680"/>
          </a:xfrm>
          <a:prstGeom prst="roundRect">
            <a:avLst>
              <a:gd name="adj" fmla="val 2302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175564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9328" y="25146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elfogadhatósági küszöb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39328" y="3337560"/>
            <a:ext cx="302666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 PASS-jellegű vágópont a MAT-hoz fogatlan populációban — előzetes érték bootstrap CI-vel, jövőbeli vizsgálatok referenciapontja.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Korlátok — őszintén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4592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" y="1789115"/>
            <a:ext cx="243962" cy="243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Asszociáció, nem okozat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86000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keresztmetszeti design együttjárást mér; az okozati irányról és az adaptáció hatásáról nem nyilatkozik.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45352" y="1371600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01384" y="1645920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579" y="1789115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05472" y="1645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fogsorviselésről nem szól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205472" y="2286000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fogpótlással elért változás kérdése nyitva marad — ehhez a kimeneti adat végleg hiányzik.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77056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4151376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67" y="4294571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1513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 minta (n = 48; MAI: 41)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08760" y="4791456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Kétoldali próbával ~|r| ≥ 0,43 mutatható ki 80% erővel (egyszerű korreláció) — korrigált modellekre nem vihető át.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45352" y="3877056"/>
            <a:ext cx="5394960" cy="2212848"/>
          </a:xfrm>
          <a:prstGeom prst="roundRect">
            <a:avLst>
              <a:gd name="adj" fmla="val 3719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AB3C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01384" y="4151376"/>
            <a:ext cx="530352" cy="530352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579" y="4294571"/>
            <a:ext cx="243962" cy="2439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05472" y="415137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Előzetes küszöbértékek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205472" y="4791456"/>
            <a:ext cx="41148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PASS-vágópont pilot jellegű — definitív küszöbhöz az irodalom kb. 100 főt ajánl.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235440" y="420624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Következő lépések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85800" y="16459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08760" y="1600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Gipszminta-leltár: melyik betegnek érhető el a mintája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08760" y="2560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hiányzó ~40 modellanalízis elvégzése az appban (mm-adatok, profilpontok)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" y="356616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508760" y="35204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Megbízhatósági alvizsgálat: 20–30 minta × 2 értékelő × 2 ismétlés (ICC, SEM)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45262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508760" y="44805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Elemzési terv (SAP) írásba foglalása, majd az elemzések futtatása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munkacsoport  •  2026. augusztus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2026-08-07T19:49:20Z</dcterms:created>
  <dcterms:modified xsi:type="dcterms:W3CDTF">2026-08-07T19:49:20Z</dcterms:modified>
</cp:coreProperties>
</file>